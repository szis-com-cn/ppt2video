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35" r:id="rId2"/>
    <p:sldId id="445" r:id="rId3"/>
    <p:sldId id="431" r:id="rId4"/>
  </p:sldIdLst>
  <p:sldSz cx="9144000" cy="5143500" type="screen16x9"/>
  <p:notesSz cx="6858000" cy="9144000"/>
  <p:custDataLst>
    <p:tags r:id="rId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D7B7"/>
    <a:srgbClr val="E3A3A3"/>
    <a:srgbClr val="E8EAE9"/>
    <a:srgbClr val="5F5F5F"/>
    <a:srgbClr val="080808"/>
    <a:srgbClr val="333333"/>
    <a:srgbClr val="1C1C1C"/>
    <a:srgbClr val="000000"/>
    <a:srgbClr val="FCFCFC"/>
    <a:srgbClr val="CCD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50" autoAdjust="0"/>
    <p:restoredTop sz="94647" autoAdjust="0"/>
  </p:normalViewPr>
  <p:slideViewPr>
    <p:cSldViewPr>
      <p:cViewPr varScale="1">
        <p:scale>
          <a:sx n="206" d="100"/>
          <a:sy n="206" d="100"/>
        </p:scale>
        <p:origin x="960" y="174"/>
      </p:cViewPr>
      <p:guideLst>
        <p:guide orient="horz" pos="162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  <a:t>2025/8/3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503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BF2980-540F-4F7F-A4CC-709C5E98033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664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108F-5147-2087-7FAC-8307293B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BDA982-0124-2103-25C8-FDF422709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C19D84-9A2B-2405-EE86-A01DBD058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6E6AD-866F-61FE-06E8-A9DCAEB57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762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>
                <a:solidFill>
                  <a:prstClr val="black"/>
                </a:solidFill>
              </a:rPr>
              <a:t>3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70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E37400-0646-4690-B3CD-AFE7E0746041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543FE73-A404-45C1-B77A-6DB3BD9EA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矩形 619"/>
          <p:cNvSpPr/>
          <p:nvPr/>
        </p:nvSpPr>
        <p:spPr>
          <a:xfrm>
            <a:off x="0" y="1274760"/>
            <a:ext cx="9144000" cy="1296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2" name="TextBox 7"/>
          <p:cNvSpPr>
            <a:spLocks noChangeArrowheads="1"/>
          </p:cNvSpPr>
          <p:nvPr/>
        </p:nvSpPr>
        <p:spPr bwMode="auto">
          <a:xfrm>
            <a:off x="2699792" y="1507756"/>
            <a:ext cx="549455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914400"/>
            <a:r>
              <a:rPr lang="en-US" altLang="zh-CN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Large-Scale Sparse Multiobjective Optimization based on Pattern Mining</a:t>
            </a:r>
            <a:endParaRPr lang="zh-CN" alt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pSp>
        <p:nvGrpSpPr>
          <p:cNvPr id="597" name="组合 596"/>
          <p:cNvGrpSpPr/>
          <p:nvPr/>
        </p:nvGrpSpPr>
        <p:grpSpPr>
          <a:xfrm>
            <a:off x="539552" y="130130"/>
            <a:ext cx="1870428" cy="187042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9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99" name="椭圆 59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03" y="333593"/>
            <a:ext cx="1484807" cy="14848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72805C-E2D3-4580-84E0-C00443245183}"/>
              </a:ext>
            </a:extLst>
          </p:cNvPr>
          <p:cNvSpPr txBox="1"/>
          <p:nvPr/>
        </p:nvSpPr>
        <p:spPr>
          <a:xfrm>
            <a:off x="809582" y="3868740"/>
            <a:ext cx="75068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457200"/>
            <a:r>
              <a:rPr lang="en-US" altLang="zh-CN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[1]Tian Y, Lu C, Zhang X, et al. A Pattern Mining-based </a:t>
            </a:r>
            <a:r>
              <a:rPr lang="en-US" altLang="zh-CN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volutionary </a:t>
            </a:r>
            <a:r>
              <a:rPr lang="en-US" altLang="zh-CN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lgorithm for Large-Scale </a:t>
            </a:r>
            <a:r>
              <a:rPr lang="en-US" altLang="zh-CN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 </a:t>
            </a:r>
            <a:r>
              <a:rPr lang="en-US" altLang="zh-CN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ultiobjective </a:t>
            </a:r>
            <a:r>
              <a:rPr lang="en-US" altLang="zh-CN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ptimization </a:t>
            </a:r>
            <a:r>
              <a:rPr lang="en-US" altLang="zh-CN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2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roblems[J]. IEEE transactions on cybernetics, 2020, 52(7): 6784-6797.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658AC-5416-34F6-57B4-E3D1C99DDC51}"/>
              </a:ext>
            </a:extLst>
          </p:cNvPr>
          <p:cNvSpPr txBox="1"/>
          <p:nvPr/>
        </p:nvSpPr>
        <p:spPr>
          <a:xfrm>
            <a:off x="809582" y="4299942"/>
            <a:ext cx="7596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457200"/>
            <a:r>
              <a:rPr lang="en-US" altLang="zh-CN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[2]Qi S, Wang R, Zhang T, et al. Enhancing Evolutionary Algorithms With Pattern Mining for Sparse Large-Scale Multi-Objective Optimization Problems[J]. IEEE/CAA Journal of </a:t>
            </a:r>
            <a:r>
              <a:rPr lang="en-US" altLang="zh-CN" sz="12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</a:t>
            </a:r>
            <a:r>
              <a:rPr lang="en-US" altLang="zh-CN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Sinica, 2024, 11(8): 1786-1801.</a:t>
            </a:r>
            <a:endParaRPr lang="zh-CN" alt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79535-782F-F5C6-29D5-F72678ED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22E04289-E4D8-63F8-5073-993ADBC7A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115" y="-20538"/>
            <a:ext cx="1597405" cy="469825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74A8289-6600-FB39-C658-A9A0BED3260A}"/>
              </a:ext>
            </a:extLst>
          </p:cNvPr>
          <p:cNvCxnSpPr>
            <a:cxnSpLocks/>
          </p:cNvCxnSpPr>
          <p:nvPr/>
        </p:nvCxnSpPr>
        <p:spPr>
          <a:xfrm flipV="1">
            <a:off x="1091124" y="123925"/>
            <a:ext cx="0" cy="719633"/>
          </a:xfrm>
          <a:prstGeom prst="line">
            <a:avLst/>
          </a:prstGeom>
          <a:ln w="12700">
            <a:solidFill>
              <a:srgbClr val="08080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​​ 14">
            <a:extLst>
              <a:ext uri="{FF2B5EF4-FFF2-40B4-BE49-F238E27FC236}">
                <a16:creationId xmlns:a16="http://schemas.microsoft.com/office/drawing/2014/main" id="{72D39B8F-EE06-8E46-B4B3-A0683FF18326}"/>
              </a:ext>
            </a:extLst>
          </p:cNvPr>
          <p:cNvCxnSpPr/>
          <p:nvPr/>
        </p:nvCxnSpPr>
        <p:spPr>
          <a:xfrm>
            <a:off x="2441097" y="1314738"/>
            <a:ext cx="4261807" cy="0"/>
          </a:xfrm>
          <a:prstGeom prst="line">
            <a:avLst/>
          </a:prstGeom>
          <a:ln w="9525">
            <a:solidFill>
              <a:srgbClr val="33333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66D4817-ACA8-107C-B12F-EB71D3342F19}"/>
              </a:ext>
            </a:extLst>
          </p:cNvPr>
          <p:cNvSpPr txBox="1"/>
          <p:nvPr/>
        </p:nvSpPr>
        <p:spPr>
          <a:xfrm>
            <a:off x="1075833" y="139503"/>
            <a:ext cx="3556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筛选模式</a:t>
            </a:r>
          </a:p>
          <a:p>
            <a:pPr marL="0" lvl="1"/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83884-6E0D-E05D-35B9-6FFD3A5F566B}"/>
              </a:ext>
            </a:extLst>
          </p:cNvPr>
          <p:cNvSpPr txBox="1"/>
          <p:nvPr/>
        </p:nvSpPr>
        <p:spPr>
          <a:xfrm>
            <a:off x="3383868" y="852698"/>
            <a:ext cx="237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支持度和占用率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C21785-F40F-98D4-6CAE-D9CCEF9AA2F1}"/>
                  </a:ext>
                </a:extLst>
              </p:cNvPr>
              <p:cNvSpPr txBox="1"/>
              <p:nvPr/>
            </p:nvSpPr>
            <p:spPr>
              <a:xfrm>
                <a:off x="755576" y="1373980"/>
                <a:ext cx="35283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Obtained</a:t>
                </a:r>
                <a:r>
                  <a:rPr lang="en-US" altLang="zh-CN" sz="1600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&amp;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Target: </a:t>
                </a:r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对集合中模式进行评估和筛选。</a:t>
                </a:r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E27B3D-FA57-B4B9-C048-B6D533474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373980"/>
                <a:ext cx="3528392" cy="584775"/>
              </a:xfrm>
              <a:prstGeom prst="rect">
                <a:avLst/>
              </a:prstGeom>
              <a:blipFill>
                <a:blip r:embed="rId4"/>
                <a:stretch>
                  <a:fillRect l="-1036" t="-4167" r="-4318" b="-13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BB0356-620C-292C-458F-00AD427A0FD2}"/>
                  </a:ext>
                </a:extLst>
              </p:cNvPr>
              <p:cNvSpPr txBox="1"/>
              <p:nvPr/>
            </p:nvSpPr>
            <p:spPr>
              <a:xfrm>
                <a:off x="755576" y="2057515"/>
                <a:ext cx="3881606" cy="2573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最大化支持度</a:t>
                </a:r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占用率</a:t>
                </a:r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，作为评估模式“好坏”的指标</a:t>
                </a:r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支持度：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（模式在解集出现的比例）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占用率：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∑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𝑚𝑎𝑠𝑘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∑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（模式决策变量数在出现解中的平均占比）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BB0356-620C-292C-458F-00AD427A0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057515"/>
                <a:ext cx="3881606" cy="2573397"/>
              </a:xfrm>
              <a:prstGeom prst="rect">
                <a:avLst/>
              </a:prstGeom>
              <a:blipFill>
                <a:blip r:embed="rId5"/>
                <a:stretch>
                  <a:fillRect l="-942" t="-711" b="-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FE9947BB-2336-BB99-D6FF-06A90FDA15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2262" y="1491631"/>
            <a:ext cx="3968844" cy="21602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E7A162-21E0-5F0B-E066-3F3AE9269DA4}"/>
              </a:ext>
            </a:extLst>
          </p:cNvPr>
          <p:cNvSpPr txBox="1"/>
          <p:nvPr/>
        </p:nvSpPr>
        <p:spPr>
          <a:xfrm>
            <a:off x="4572000" y="3651868"/>
            <a:ext cx="39688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支持度和占用率越高，代表当前模式更能代表整体非支配解集的决策变量分布。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（频繁模式挖掘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-Frequent Pattern Mining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999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2967927"/>
            <a:ext cx="9144000" cy="13936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47814" y="846409"/>
            <a:ext cx="1870428" cy="187042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椭圆 6"/>
          <p:cNvSpPr/>
          <p:nvPr/>
        </p:nvSpPr>
        <p:spPr>
          <a:xfrm>
            <a:off x="576178" y="1587425"/>
            <a:ext cx="677676" cy="6776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898898" y="507680"/>
            <a:ext cx="274777" cy="27477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4870435" y="2666867"/>
            <a:ext cx="301060" cy="301060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0" name="同心圆 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044971" y="1641695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590561" y="254521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6" name="同心圆 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2219" y="4349008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9" name="同心圆 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椭圆 20"/>
          <p:cNvSpPr/>
          <p:nvPr/>
        </p:nvSpPr>
        <p:spPr>
          <a:xfrm>
            <a:off x="4534785" y="1054817"/>
            <a:ext cx="274777" cy="27477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4549298" y="4510926"/>
            <a:ext cx="137389" cy="13738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7580013" y="3949930"/>
            <a:ext cx="713989" cy="713989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" name="同心圆 2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TextBox 7"/>
          <p:cNvSpPr>
            <a:spLocks noChangeArrowheads="1"/>
          </p:cNvSpPr>
          <p:nvPr/>
        </p:nvSpPr>
        <p:spPr bwMode="auto">
          <a:xfrm>
            <a:off x="1198556" y="3170864"/>
            <a:ext cx="56056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4400"/>
            <a:r>
              <a:rPr lang="zh-CN" altLang="en-US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微软雅黑" panose="020B0503020204020204" pitchFamily="34" charset="-122"/>
              </a:rPr>
              <a:t>谢谢观看</a:t>
            </a:r>
            <a:endParaRPr lang="zh-CN" alt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1243855" y="3815698"/>
            <a:ext cx="5447228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265" y="1049872"/>
            <a:ext cx="1484807" cy="14848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商务金融PPT图表"/>
</p:tagLst>
</file>

<file path=ppt/theme/theme1.xml><?xml version="1.0" encoding="utf-8"?>
<a:theme xmlns:a="http://schemas.openxmlformats.org/drawingml/2006/main" name="Office 主题​​">
  <a:themeElements>
    <a:clrScheme name="自定义 276">
      <a:dk1>
        <a:sysClr val="windowText" lastClr="000000"/>
      </a:dk1>
      <a:lt1>
        <a:sysClr val="window" lastClr="FFFFFF"/>
      </a:lt1>
      <a:dk2>
        <a:srgbClr val="7F7F7F"/>
      </a:dk2>
      <a:lt2>
        <a:srgbClr val="7F7F7F"/>
      </a:lt2>
      <a:accent1>
        <a:srgbClr val="C00002"/>
      </a:accent1>
      <a:accent2>
        <a:srgbClr val="C00002"/>
      </a:accent2>
      <a:accent3>
        <a:srgbClr val="C00002"/>
      </a:accent3>
      <a:accent4>
        <a:srgbClr val="C00002"/>
      </a:accent4>
      <a:accent5>
        <a:srgbClr val="808080"/>
      </a:accent5>
      <a:accent6>
        <a:srgbClr val="808080"/>
      </a:accent6>
      <a:hlink>
        <a:srgbClr val="FFFFFF"/>
      </a:hlink>
      <a:folHlink>
        <a:srgbClr val="FFFFF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5761</TotalTime>
  <Words>206</Words>
  <Application>Microsoft Office PowerPoint</Application>
  <PresentationFormat>全屏显示(16:9)</PresentationFormat>
  <Paragraphs>21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宋体</vt:lpstr>
      <vt:lpstr>Arial</vt:lpstr>
      <vt:lpstr>Calibri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商务金融PPT图表</dc:title>
  <dc:subject>哎呀小小草</dc:subject>
  <dc:creator>哎呀小小草</dc:creator>
  <cp:keywords>https:/800sucai.taobao.com</cp:keywords>
  <dc:description>https://800sucai.taobao.com/</dc:description>
  <cp:lastModifiedBy>豪 丘</cp:lastModifiedBy>
  <cp:revision>1076</cp:revision>
  <dcterms:created xsi:type="dcterms:W3CDTF">2015-04-24T01:01:00Z</dcterms:created>
  <dcterms:modified xsi:type="dcterms:W3CDTF">2025-08-03T04:23:55Z</dcterms:modified>
  <cp:category>https://800sucai.taobao.com/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2052-10.1.0.6029</vt:lpwstr>
  </property>
</Properties>
</file>